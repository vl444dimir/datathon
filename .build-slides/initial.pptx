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69f1bace3042e0" /><Relationship Type="http://schemas.openxmlformats.org/officeDocument/2006/relationships/extended-properties" Target="/docProps/app.xml" Id="R62736e102d53448b" /><Relationship Type="http://schemas.openxmlformats.org/officeDocument/2006/relationships/officeDocument" Target="/ppt/presentation.xml" Id="Rf548b0e4ce4c4e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520e0367b04dca"/>
  </p:sldMasterIdLst>
  <p:notesMasterIdLst>
    <p:notesMasterId xmlns:r="http://schemas.openxmlformats.org/officeDocument/2006/relationships" r:id="R78992c85cbe0419b"/>
  </p:notesMasterIdLst>
  <p:sldIdLst>
    <p:sldId xmlns:r="http://schemas.openxmlformats.org/officeDocument/2006/relationships" id="256" r:id="R59d2932df1c3445f"/>
    <p:sldId xmlns:r="http://schemas.openxmlformats.org/officeDocument/2006/relationships" id="257" r:id="R9b6e3c6b7d3a4dc6"/>
    <p:sldId xmlns:r="http://schemas.openxmlformats.org/officeDocument/2006/relationships" id="258" r:id="R4e6e6053876344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96b9b848084673" /><Relationship Type="http://schemas.openxmlformats.org/officeDocument/2006/relationships/slideMaster" Target="/ppt/slideMasters/slideMaster1.xml" Id="R2c520e0367b04dca" /><Relationship Type="http://schemas.openxmlformats.org/officeDocument/2006/relationships/notesMaster" Target="/ppt/notesMasters/notesMaster1.xml" Id="R78992c85cbe0419b" /><Relationship Type="http://schemas.openxmlformats.org/officeDocument/2006/relationships/presProps" Target="/ppt/presProps.xml" Id="R9da12a2eee904c87" /><Relationship Type="http://schemas.openxmlformats.org/officeDocument/2006/relationships/tableStyles" Target="/ppt/tableStyles.xml" Id="R935b45e9e34f444b" /><Relationship Type="http://schemas.openxmlformats.org/officeDocument/2006/relationships/slide" Target="/ppt/slides/slide1.xml" Id="R59d2932df1c3445f" /><Relationship Type="http://schemas.openxmlformats.org/officeDocument/2006/relationships/slide" Target="/ppt/slides/slide2.xml" Id="R9b6e3c6b7d3a4dc6" /><Relationship Type="http://schemas.openxmlformats.org/officeDocument/2006/relationships/slide" Target="/ppt/slides/slide3.xml" Id="R4e6e6053876344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da95b7d6741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2a811ce3174241" /><Relationship Type="http://schemas.openxmlformats.org/officeDocument/2006/relationships/notesMaster" Target="/ppt/notesMasters/notesMaster1.xml" Id="R29e0c3f61cfb44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f4b82bd41f4dc7" /><Relationship Type="http://schemas.openxmlformats.org/officeDocument/2006/relationships/notesMaster" Target="/ppt/notesMasters/notesMaster1.xml" Id="R77309b666a294f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639c5ee8594aa8" /><Relationship Type="http://schemas.openxmlformats.org/officeDocument/2006/relationships/notesMaster" Target="/ppt/notesMasters/notesMaster1.xml" Id="R6e1bbc6716784f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synthetic_microdata_2021-2024_20260921/MANIFEST.csv (236 таблиц, 72643893 строк, 8 форм), data-guide.Rmd, d008/2024/kontr_k.csv и d006/2024/rio_2024.csv. Связь по NOMER. D008 содержит 12000 домохозяйств, D006 — 11704. Процент 97.5. Это синтетическая выборка, не оценка численности населения.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synthetic_microdata_2021-2024_20260921/d008/2024/kontr_k.csv. Уникальный ключ домохозяйства NOMER; 12 000 ключей и 41 821 человек. Размер рассчитан как число записей NOMP в домохозяйстве; с KOL_CHL расхождений нет. Распределение: 1 — 1 726, 2 — 2 846, 3 — 2 185, 4 — 1 889, 5+ — 3 354. Среднее 3.49. Возраст: 2024 минус GOD_ROJD; в 6 700 домохозяйствах есть хотя бы один член младше 18 лет. Все 41 821 значения года рождения валидны. Доли невзвешенные и относятся только к синтетической выборке.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synthetic_microdata_2021-2024_20260921/d006/2024/rio_2024.csv и d008/2024/kontr_k.csv; документация d006/2024/D006_deid/структураД006.doc подтверждает OB_PL как общую площадь, а d008/2024/D008_2024/Структура D008.doc — KOL_CHL как число членов. Соединение по NOMER, 11 704 из 12 000 домохозяйств (97,5%). Для каждого домохозяйства разделили OB_PL на фактическое число членов по NOMP, затем нашли медиану по группам: 57, 30, 20.7, 16.2, 12.6 м². OB_PL положительна у всех 11 704 связанных домохозяйств. Медиана общей площади жилья по группам: 57, 60, 62, 65, 73 м². Это описание синтетической выборки, не норматив тесноты и не вывод о населении Казахстана. Следующий этап: проверить распределения внутри групп, по территориальному коду и типу жилья.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0f29046e444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c3635e52624ed5" /><Relationship Type="http://schemas.openxmlformats.org/officeDocument/2006/relationships/slideLayout" Target="/ppt/slideLayouts/slideLayout1.xml" Id="Rbee47db5fb6a41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e47db5fb6a41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c35dace634b01" /><Relationship Type="http://schemas.openxmlformats.org/officeDocument/2006/relationships/notesSlide" Target="/ppt/notesSlides/notesSlide1.xml" Id="R893f377ab85c4a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c6247073944e1" /><Relationship Type="http://schemas.openxmlformats.org/officeDocument/2006/relationships/chart" Target="/ppt/slides/charts/chart1.xml" Id="Raa2bb72209724bb4" /><Relationship Type="http://schemas.openxmlformats.org/officeDocument/2006/relationships/notesSlide" Target="/ppt/notesSlides/notesSlide2.xml" Id="Rd5233382171444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314d96943432d" /><Relationship Type="http://schemas.openxmlformats.org/officeDocument/2006/relationships/chart" Target="/ppt/slides/charts/chart2.xml" Id="R211622595e1842ce" /><Relationship Type="http://schemas.openxmlformats.org/officeDocument/2006/relationships/notesSlide" Target="/ppt/notesSlides/notesSlide3.xml" Id="Rbf485d79b8314cc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</c:v>
          </c:tx>
          <c:spPr>
            <a:solidFill xmlns:a="http://schemas.openxmlformats.org/drawingml/2006/main">
              <a:srgbClr val="087D83"/>
            </a:solidFill>
          </c:spPr>
          <c:cat>
            <c:strRef>
              <c:f>'Chart Data'!$A$2:$A$6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5+</c:v>
                </c:pt>
              </c:strCache>
            </c:strRef>
          </c:cat>
          <c:val>
            <c:numRef>
              <c:f>'Chart Data'!$B$2:$B$6</c:f>
              <c:numCache>
                <c:formatCode>0.0"%"</c:formatCode>
                <c:ptCount val="5"/>
                <c:pt idx="0">
                  <c:v>14.4</c:v>
                </c:pt>
                <c:pt idx="1">
                  <c:v>23.7</c:v>
                </c:pt>
                <c:pt idx="2">
                  <c:v>18.2</c:v>
                </c:pt>
                <c:pt idx="3">
                  <c:v>15.7</c:v>
                </c:pt>
                <c:pt idx="4">
                  <c:v>27.9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м² на человека</c:v>
          </c:tx>
          <c:spPr>
            <a:solidFill xmlns:a="http://schemas.openxmlformats.org/drawingml/2006/main">
              <a:srgbClr val="087D83"/>
            </a:solidFill>
          </c:spPr>
          <c:cat>
            <c:strRef>
              <c:f>'Chart Data'!$A$2:$A$6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5+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57</c:v>
                </c:pt>
                <c:pt idx="1">
                  <c:v>30</c:v>
                </c:pt>
                <c:pt idx="2">
                  <c:v>20.7</c:v>
                </c:pt>
                <c:pt idx="3">
                  <c:v>16.2</c:v>
                </c:pt>
                <c:pt idx="4">
                  <c:v>12.6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8E7FE-A2FB-4CC4-9C85-8BEB3F42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1/3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4EBC4-E803-477D-BD45-115F1CE2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Данные для анализа: 72,6 млн синтетических записей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DC434-E223-44B6-94A8-0018590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MANIFEST.csv и data-guide.Rmd. Синтетические данные, 2021–2024 годы.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76A5E-C357-481F-A8F5-D6F194C7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236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05E4F-9963-4D59-ADFB-2F8A0D61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таблиц в 8 формах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068D8-4417-4D23-97DD-74FAB79A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72,6 млн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9EACB-40B7-4561-9784-79BEB713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строк за четыре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CEF73-D188-4DEF-A8DD-70591FBB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Наш фокус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35360-C22F-4DB4-85DC-2C155E67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D008: состав домохозяйств и возраст членов семьи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C149A-58D5-44A1-A865-815BDC51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D006: общая и жилая площадь жилья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8B35B-A27C-4DB8-BFB2-7FA30F2B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В 2024 году связались 11 704 из 12 000 домохозяйств (97,5%)</a:t>
            </a:r>
          </a:p>
        </p:txBody>
      </p:sp>
    </p:spTree>
    <p:extLst>
      <p:ext uri="{BB962C8B-B14F-4D97-AF65-F5344CB8AC3E}">
        <p14:creationId xmlns:p14="http://schemas.microsoft.com/office/powerpoint/2010/main" val="532650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FBF15-B761-42EA-86A3-BED963B8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2/3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AE625-9AF4-4B64-AA41-785022EC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В 2024 году 28% домохозяйств состоят из 5+ человек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E5F94-A072-4A65-997E-11F4DADA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D008, 2024. Доли от 12 000 домохозяйств в синтетической выборке; без весов.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9D695-B0DE-4589-A306-167562E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Размер домохозяйства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74295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2bb72209724bb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11FDC-47F4-43D6-A6E9-810D72BD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3,49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27643-A0BE-45C4-8FE5-9DEE353B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80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человека в среднем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2B397-67D9-43CB-ABB6-8075799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005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55,8%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A10F6-DF2D-4E1D-8024-A7143DD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01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семей с детьми до 18 лет</a:t>
            </a:r>
          </a:p>
        </p:txBody>
      </p:sp>
    </p:spTree>
    <p:extLst>
      <p:ext uri="{BB962C8B-B14F-4D97-AF65-F5344CB8AC3E}">
        <p14:creationId xmlns:p14="http://schemas.microsoft.com/office/powerpoint/2010/main" val="70069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B6661-2F3E-479A-8F80-A6CC3CEE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3/3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8C796-F2A7-4859-9383-109F0445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На одного члена большой семьи приходится меньше площади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486F9-AE12-4D83-8D10-47008880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D006 + D008, 2024. Медиана общей площади на человека; n = 11 704. Синтетическая выборка.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1AEAE-14BA-4DA3-8E1C-7264C921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Медиана общей площади на человека, м²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572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1622595e1842c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E6E30-65C6-43B9-9D21-835C8D8C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У семей 5+ медиана общей площади 73 м², у одиночных — 57 м²</a:t>
            </a:r>
          </a:p>
        </p:txBody>
      </p:sp>
    </p:spTree>
    <p:extLst>
      <p:ext uri="{BB962C8B-B14F-4D97-AF65-F5344CB8AC3E}">
        <p14:creationId xmlns:p14="http://schemas.microsoft.com/office/powerpoint/2010/main" val="393805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2026-09-29T17:25:15.0110000Z</dcterms:created>
  <dcterms:modified xsi:type="dcterms:W3CDTF">2026-09-29T17:25:15.0110000Z</dcterms:modified>
</coreProperties>
</file>