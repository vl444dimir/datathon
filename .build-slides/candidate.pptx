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810e71575431b" /><Relationship Type="http://schemas.openxmlformats.org/officeDocument/2006/relationships/extended-properties" Target="/docProps/app.xml" Id="R1d253369a5dc4fa5" /><Relationship Type="http://schemas.openxmlformats.org/officeDocument/2006/relationships/officeDocument" Target="/ppt/presentation.xml" Id="R70803a71873b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a32c4e1dc40c5"/>
  </p:sldMasterIdLst>
  <p:notesMasterIdLst>
    <p:notesMasterId xmlns:r="http://schemas.openxmlformats.org/officeDocument/2006/relationships" r:id="Rfd3909cb65c941bd"/>
  </p:notesMasterIdLst>
  <p:sldIdLst>
    <p:sldId xmlns:r="http://schemas.openxmlformats.org/officeDocument/2006/relationships" id="256" r:id="R23b4ac90cc3a432b"/>
    <p:sldId xmlns:r="http://schemas.openxmlformats.org/officeDocument/2006/relationships" id="257" r:id="R98bd51bfc4744833"/>
    <p:sldId xmlns:r="http://schemas.openxmlformats.org/officeDocument/2006/relationships" id="258" r:id="R52822763d14047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9cae422c874487" /><Relationship Type="http://schemas.openxmlformats.org/officeDocument/2006/relationships/slideMaster" Target="/ppt/slideMasters/slideMaster1.xml" Id="R3d5a32c4e1dc40c5" /><Relationship Type="http://schemas.openxmlformats.org/officeDocument/2006/relationships/notesMaster" Target="/ppt/notesMasters/notesMaster1.xml" Id="Rfd3909cb65c941bd" /><Relationship Type="http://schemas.openxmlformats.org/officeDocument/2006/relationships/presProps" Target="/ppt/presProps.xml" Id="R252f5634ff614da8" /><Relationship Type="http://schemas.openxmlformats.org/officeDocument/2006/relationships/tableStyles" Target="/ppt/tableStyles.xml" Id="R8cf121bd00564179" /><Relationship Type="http://schemas.openxmlformats.org/officeDocument/2006/relationships/slide" Target="/ppt/slides/slide1.xml" Id="R23b4ac90cc3a432b" /><Relationship Type="http://schemas.openxmlformats.org/officeDocument/2006/relationships/slide" Target="/ppt/slides/slide2.xml" Id="R98bd51bfc4744833" /><Relationship Type="http://schemas.openxmlformats.org/officeDocument/2006/relationships/slide" Target="/ppt/slides/slide3.xml" Id="R52822763d140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16340c8547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1a7cda207946b5" /><Relationship Type="http://schemas.openxmlformats.org/officeDocument/2006/relationships/notesMaster" Target="/ppt/notesMasters/notesMaster1.xml" Id="Rcf0a4b2a9fe041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17f1cb730421f" /><Relationship Type="http://schemas.openxmlformats.org/officeDocument/2006/relationships/notesMaster" Target="/ppt/notesMasters/notesMaster1.xml" Id="R9b91b10d1f7e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b3022704be43f9" /><Relationship Type="http://schemas.openxmlformats.org/officeDocument/2006/relationships/notesMaster" Target="/ppt/notesMasters/notesMaster1.xml" Id="R188d70760bfe40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synthetic_microdata_2021-2024_20260921/MANIFEST.csv (236 таблиц, 72643893 строк, 8 форм), data-guide.Rmd, d008/2024/kontr_k.csv и d006/2024/rio_2024.csv. Связь по NOMER. D008 содержит 12000 домохозяйств, D006 — 11704. Процент 97.5. Это синтетическая выборка, не оценка численности населения.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synthetic_microdata_2021-2024_20260921/d008/2024/kontr_k.csv. Уникальный ключ домохозяйства NOMER; 12 000 ключей и 41 821 человек. Размер рассчитан как число записей NOMP в домохозяйстве; с KOL_CHL расхождений нет. Распределение: 1 — 1 726, 2 — 2 846, 3 — 2 185, 4 — 1 889, 5+ — 3 354. Среднее 3.49. Возраст: 2024 минус GOD_ROJD; в 6 700 домохозяйствах есть хотя бы один член младше 18 лет. Все 41 821 значения года рождения валидны. Доли невзвешенные и относятся только к синтетической выборке.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synthetic_microdata_2021-2024_20260921/d006/2024/rio_2024.csv и d008/2024/kontr_k.csv; документация d006/2024/D006_deid/структураД006.doc подтверждает OB_PL как общую площадь, а d008/2024/D008_2024/Структура D008.doc — KOL_CHL как число членов. Соединение по NOMER, 11 704 из 12 000 домохозяйств (97,5%). Для каждого домохозяйства разделили OB_PL на фактическое число членов по NOMP, затем нашли медиану по группам: 57, 30, 20.7, 16.2, 12.6 м². OB_PL положительна у всех 11 704 связанных домохозяйств. Медиана общей площади жилья по группам: 57, 60, 62, 65, 73 м². Это описание синтетической выборки, не норматив тесноты и не вывод о населении Казахстана. Следующий этап: проверить распределения внутри групп, по территориальному коду и типу жилья.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a60595f3c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d474df3d5c4fc4" /><Relationship Type="http://schemas.openxmlformats.org/officeDocument/2006/relationships/slideLayout" Target="/ppt/slideLayouts/slideLayout1.xml" Id="R73e88eb0e01840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88eb0e01840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f39128d014277" /><Relationship Type="http://schemas.openxmlformats.org/officeDocument/2006/relationships/notesSlide" Target="/ppt/notesSlides/notesSlide1.xml" Id="Rc87d9961634445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d218e96e41fe" /><Relationship Type="http://schemas.openxmlformats.org/officeDocument/2006/relationships/chart" Target="/ppt/slides/charts/chart1.xml" Id="R930a6e3042444ed8" /><Relationship Type="http://schemas.openxmlformats.org/officeDocument/2006/relationships/notesSlide" Target="/ppt/notesSlides/notesSlide2.xml" Id="R5a51d96db6c149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07a9b9504ca7" /><Relationship Type="http://schemas.openxmlformats.org/officeDocument/2006/relationships/chart" Target="/ppt/slides/charts/chart2.xml" Id="R814ad8daf701465e" /><Relationship Type="http://schemas.openxmlformats.org/officeDocument/2006/relationships/notesSlide" Target="/ppt/notesSlides/notesSlide3.xml" Id="R892b8b549f7747a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</c:v>
          </c:tx>
          <c:spPr>
            <a:solidFill xmlns:a="http://schemas.openxmlformats.org/drawingml/2006/main">
              <a:srgbClr val="087D83"/>
            </a:solidFill>
          </c:spPr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5+</c:v>
              </c:pt>
            </c:strLit>
          </c:cat>
          <c:val>
            <c:numLit>
              <c:formatCode>0.0"%"</c:formatCode>
              <c:ptCount val="5"/>
              <c:pt idx="0">
                <c:v>14.4</c:v>
              </c:pt>
              <c:pt idx="1">
                <c:v>23.7</c:v>
              </c:pt>
              <c:pt idx="2">
                <c:v>18.2</c:v>
              </c:pt>
              <c:pt idx="3">
                <c:v>15.7</c:v>
              </c:pt>
              <c:pt idx="4">
                <c:v>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м² на человека</c:v>
          </c:tx>
          <c:spPr>
            <a:solidFill xmlns:a="http://schemas.openxmlformats.org/drawingml/2006/main">
              <a:srgbClr val="087D83"/>
            </a:solidFill>
          </c:spPr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5+</c:v>
              </c:pt>
            </c:strLit>
          </c:cat>
          <c:val>
            <c:numLit>
              <c:formatCode>0.0</c:formatCode>
              <c:ptCount val="5"/>
              <c:pt idx="0">
                <c:v>57</c:v>
              </c:pt>
              <c:pt idx="1">
                <c:v>30</c:v>
              </c:pt>
              <c:pt idx="2">
                <c:v>20.7</c:v>
              </c:pt>
              <c:pt idx="3">
                <c:v>16.2</c:v>
              </c:pt>
              <c:pt idx="4">
                <c:v>12.6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52A3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E3EA2-A959-4AA2-BD27-3285D61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1/3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D15F4-BE6C-4BEB-91C3-547EAB0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Данные для анализа: 72,6 млн синтетических записей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7924-34D6-49AB-8456-7C6A69F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MANIFEST.csv и data-guide.Rmd. Синтетические данные, 2021–2024 годы.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6A54-89E6-4FD3-B5E4-602B830D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236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4AFFA-BC65-44A6-98D4-504CB276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таблиц в 8 формах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E4538-D63A-4F8C-9C6F-9645F07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72,6 млн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AFA25-818A-4D13-83F5-F22DC88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строк за четыре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8800E-203A-4D97-AA79-B095F1F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Наш фокус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DF31E-3766-4CDE-A088-00D7A39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D008: состав домохозяйств и возраст членов семьи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F7A2E-9D5B-44E1-8919-46E7D39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D006: общая и жилая площадь жилья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4A121-590C-400A-A458-FD4ABA76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В 2024 году связались 11 704 из 12 000 домохозяйств (97,5%)</a:t>
            </a:r>
          </a:p>
        </p:txBody>
      </p:sp>
    </p:spTree>
    <p:extLst>
      <p:ext uri="{BB962C8B-B14F-4D97-AF65-F5344CB8AC3E}">
        <p14:creationId xmlns:p14="http://schemas.microsoft.com/office/powerpoint/2010/main" val="915767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27373-9E3B-44C8-9A0F-387F9848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2/3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7671A-226F-41AE-BD30-E1DAD7F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В 2024 году 28% домохозяйств состоят из 5+ человек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4206B-9698-4A63-8A72-7BF7D288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D008, 2024. Доли от 12 000 домохозяйств в синтетической выборке; без весов.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A9BA5-943A-4DAE-A5E2-CDFC342D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Размер домохозяйства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4295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0a6e3042444e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C14CC-367E-4946-A211-4D4ED5D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3,49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02DA3-A82F-49B8-9D88-82165786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905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человека в среднем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0C76D-7A16-407B-8F4C-BF202DA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0050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55,8%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5EA45-876C-4B1F-99B1-CF694B8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A39"/>
                </a:solidFill>
                <a:latin typeface="Arial"/>
                <a:ea typeface="Arial"/>
                <a:cs typeface="Arial"/>
              </a:rPr>
              <a:t>семей с детьми до 18 лет</a:t>
            </a:r>
          </a:p>
        </p:txBody>
      </p:sp>
    </p:spTree>
    <p:extLst>
      <p:ext uri="{BB962C8B-B14F-4D97-AF65-F5344CB8AC3E}">
        <p14:creationId xmlns:p14="http://schemas.microsoft.com/office/powerpoint/2010/main" val="398656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6F746-CAB7-4A48-90C9-2980134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D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D83"/>
                </a:solidFill>
                <a:latin typeface="Arial"/>
                <a:ea typeface="Arial"/>
                <a:cs typeface="Arial"/>
              </a:rPr>
              <a:t>STATDATATHON 2026   3/3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22FA-C5D0-402B-9D02-74C3986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На одного члена большой семьи приходится меньше площади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7184E-799A-4A78-A5F1-AB2927F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382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3828A"/>
                </a:solidFill>
                <a:latin typeface="Arial"/>
                <a:ea typeface="Arial"/>
                <a:cs typeface="Arial"/>
              </a:rPr>
              <a:t>Источник: D006 + D008, 2024. Медиана общей площади на человека; n = 11 704. Синтетическая выборка.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8E5F7-2437-4F8A-B495-EDB6AB4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36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36D"/>
                </a:solidFill>
                <a:latin typeface="Arial"/>
                <a:ea typeface="Arial"/>
                <a:cs typeface="Arial"/>
              </a:rPr>
              <a:t>Медиана общей площади на человека, м²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57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4ad8daf70146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8324-2841-448B-AEEA-E933E61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9"/>
                </a:solidFill>
                <a:latin typeface="Arial"/>
                <a:ea typeface="Arial"/>
                <a:cs typeface="Arial"/>
              </a:rPr>
              <a:t>У семей 5+ медиана общей площади 73 м², у одиночных — 57 м²</a:t>
            </a:r>
          </a:p>
        </p:txBody>
      </p:sp>
    </p:spTree>
    <p:extLst>
      <p:ext uri="{BB962C8B-B14F-4D97-AF65-F5344CB8AC3E}">
        <p14:creationId xmlns:p14="http://schemas.microsoft.com/office/powerpoint/2010/main" val="1898291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2026-09-29T17:26:47.1930000Z</dcterms:created>
  <dcterms:modified xsi:type="dcterms:W3CDTF">2026-09-29T17:26:47.1930000Z</dcterms:modified>
</coreProperties>
</file>