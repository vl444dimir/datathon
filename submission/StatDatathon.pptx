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3414dab3945b6" /><Relationship Type="http://schemas.openxmlformats.org/officeDocument/2006/relationships/extended-properties" Target="/docProps/app.xml" Id="R8867f74be37e45ef" /><Relationship Type="http://schemas.openxmlformats.org/officeDocument/2006/relationships/officeDocument" Target="/ppt/presentation.xml" Id="Rfe0f386a1011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894c08ea44af2"/>
  </p:sldMasterIdLst>
  <p:notesMasterIdLst>
    <p:notesMasterId xmlns:r="http://schemas.openxmlformats.org/officeDocument/2006/relationships" r:id="R9743841519c74e45"/>
  </p:notesMasterIdLst>
  <p:sldIdLst>
    <p:sldId xmlns:r="http://schemas.openxmlformats.org/officeDocument/2006/relationships" id="256" r:id="R5865c84260364a3f"/>
    <p:sldId xmlns:r="http://schemas.openxmlformats.org/officeDocument/2006/relationships" id="257" r:id="R79117855a2c640d0"/>
    <p:sldId xmlns:r="http://schemas.openxmlformats.org/officeDocument/2006/relationships" id="258" r:id="Rd885270d3bb14e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ada7e30f54528" /><Relationship Type="http://schemas.openxmlformats.org/officeDocument/2006/relationships/slideMaster" Target="/ppt/slideMasters/slideMaster1.xml" Id="R9ef894c08ea44af2" /><Relationship Type="http://schemas.openxmlformats.org/officeDocument/2006/relationships/notesMaster" Target="/ppt/notesMasters/notesMaster1.xml" Id="R9743841519c74e45" /><Relationship Type="http://schemas.openxmlformats.org/officeDocument/2006/relationships/presProps" Target="/ppt/presProps.xml" Id="Rbc97b57e71854762" /><Relationship Type="http://schemas.openxmlformats.org/officeDocument/2006/relationships/tableStyles" Target="/ppt/tableStyles.xml" Id="R5b02d15c73214d83" /><Relationship Type="http://schemas.openxmlformats.org/officeDocument/2006/relationships/slide" Target="/ppt/slides/slide1.xml" Id="R5865c84260364a3f" /><Relationship Type="http://schemas.openxmlformats.org/officeDocument/2006/relationships/slide" Target="/ppt/slides/slide2.xml" Id="R79117855a2c640d0" /><Relationship Type="http://schemas.openxmlformats.org/officeDocument/2006/relationships/slide" Target="/ppt/slides/slide3.xml" Id="Rd885270d3bb14e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9986ad140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d90f690c647b7" /><Relationship Type="http://schemas.openxmlformats.org/officeDocument/2006/relationships/notesMaster" Target="/ppt/notesMasters/notesMaster1.xml" Id="Rdbba702665cc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1bd32f0cb4fe3" /><Relationship Type="http://schemas.openxmlformats.org/officeDocument/2006/relationships/notesMaster" Target="/ppt/notesMasters/notesMaster1.xml" Id="R18e83f9fa623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680fe222e4ca0" /><Relationship Type="http://schemas.openxmlformats.org/officeDocument/2006/relationships/notesMaster" Target="/ppt/notesMasters/notesMaster1.xml" Id="R4b990a83ab60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synthetic_microdata_2021-2024_20260921/MANIFEST.csv (236 таблиц, 72643893 строк, 8 форм), data-guide.Rmd, d008/2024/kontr_k.csv и d006/2024/rio_2024.csv. Связь по NOMER. D008 содержит 12000 домохозяйств, D006 — 11704. Процент 97.5. Это синтетическая выборка, не оценка численности населения.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synthetic_microdata_2021-2024_20260921/d008/2024/kontr_k.csv. Уникальный ключ домохозяйства NOMER; 12 000 ключей и 41 821 человек. Размер рассчитан как число записей NOMP в домохозяйстве; с KOL_CHL расхождений нет. Распределение: 1 — 1 726, 2 — 2 846, 3 — 2 185, 4 — 1 889, 5+ — 3 354. Среднее 3.49. Возраст на 31 декабря 2024 года: 2024 минус GOD_ROJD; в 6 700 домохозяйствах есть хотя бы один член младше 18 лет на конец года. Все 41 821 значения года рождения валидны. Доли невзвешенные и относятся только к синтетической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synthetic_microdata_2021-2024_20260921/d006/2024/rio_2024.csv и d008/2024/kontr_k.csv; документация d006/2024/D006_deid/структураД006.doc подтверждает OB_PL как общую площадь, а d008/2024/D008_2024/Структура D008.doc — KOL_CHL как число членов. Соединение по NOMER, 11 704 из 12 000 домохозяйств (97,5%). Для каждого домохозяйства разделили OB_PL на фактическое число членов по NOMP, исключили 46 анкет, в которых J_PL больше OB_PL, затем нашли медиану по группам по 11 658 домохозяйствам: 57, 30, 20.7, 16.3, 12.7 м². OB_PL положительна у всех 11 704 связанных домохозяйств. После исключения несогласованных анкет медиана общей площади жилья по группам: 57, 60, 62, 65, 73 м². Это описание синтетической выборки, не норматив тесноты и не вывод о населении Казахстана. Следующий этап: проверить распределения внутри групп, по территориальному коду и типу жилья.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ea79b20d0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e6d359d6a4b29" /><Relationship Type="http://schemas.openxmlformats.org/officeDocument/2006/relationships/slideLayout" Target="/ppt/slideLayouts/slideLayout1.xml" Id="Rc860f853dfab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0f853dfab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a09eb78064bad" /><Relationship Type="http://schemas.openxmlformats.org/officeDocument/2006/relationships/notesSlide" Target="/ppt/notesSlides/notesSlide1.xml" Id="Rdfcaddd6e13c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2e22e57f5460a" /><Relationship Type="http://schemas.openxmlformats.org/officeDocument/2006/relationships/chart" Target="/ppt/slides/charts/chart1.xml" Id="Rd265c0e5375b4fa5" /><Relationship Type="http://schemas.openxmlformats.org/officeDocument/2006/relationships/notesSlide" Target="/ppt/notesSlides/notesSlide2.xml" Id="R09ee3db47e76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5e901b0214a8d" /><Relationship Type="http://schemas.openxmlformats.org/officeDocument/2006/relationships/chart" Target="/ppt/slides/charts/chart2.xml" Id="R45536082dd724576" /><Relationship Type="http://schemas.openxmlformats.org/officeDocument/2006/relationships/notesSlide" Target="/ppt/notesSlides/notesSlide3.xml" Id="R734698090c6241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14.4</c:v>
                </c:pt>
                <c:pt idx="1">
                  <c:v>23.7</c:v>
                </c:pt>
                <c:pt idx="2">
                  <c:v>18.2</c:v>
                </c:pt>
                <c:pt idx="3">
                  <c:v>15.7</c:v>
                </c:pt>
                <c:pt idx="4">
                  <c:v>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м² на человека</c:v>
          </c:tx>
          <c:spPr>
            <a:solidFill xmlns:a="http://schemas.openxmlformats.org/drawingml/2006/main">
              <a:srgbClr val="087D83"/>
            </a:solidFill>
          </c:spPr>
          <c:cat>
            <c:strRef>
              <c:f>'Chart Data'!$A$2:$A$6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5+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57</c:v>
                </c:pt>
                <c:pt idx="1">
                  <c:v>30</c:v>
                </c:pt>
                <c:pt idx="2">
                  <c:v>20.7</c:v>
                </c:pt>
                <c:pt idx="3">
                  <c:v>16.3</c:v>
                </c:pt>
                <c:pt idx="4">
                  <c:v>12.7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2636D"/>
                    </a:solidFill>
                    <a:latin typeface="Arial"/>
                    <a:ea typeface="Arial"/>
                    <a:cs typeface="Arial"/>
                  </a:rPr>
                  <a:t>Число членов домохозяйства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2636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29E9-2DA9-4258-B7F6-292BFEB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1/3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2316-E5A1-4895-AEBA-6A79E73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Данные для анализа: 72,6 млн синтетических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C34-75A7-43E5-AB52-9DE34A0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MANIFEST.csv и data-guide.Rmd. Синтетические данные, 2021–2024 годы.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A4F4-C9FE-4835-B130-F35C73F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0A17-96FF-4D14-B466-EE6F614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таблиц в 8 формах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444D-5EF3-4ABA-9684-160511D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72,6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F309-6750-4A3E-833D-5F4E467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строк за четыре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8A1C9-3781-4112-A673-0932C106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Наш фокус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25F63-3269-48F6-8DD8-88C1314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D008: состав домохозяйств и год рождения членов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57D5-171A-49EF-853A-726DD5A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D006: общая и жилая площадь жилья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05EAE-74FA-45EE-97EA-25562E0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В 2024 году связались 11 704 из 12 000 домохозяйств (97,5%)</a:t>
            </a:r>
          </a:p>
        </p:txBody>
      </p:sp>
    </p:spTree>
    <p:extLst>
      <p:ext uri="{BB962C8B-B14F-4D97-AF65-F5344CB8AC3E}">
        <p14:creationId xmlns:p14="http://schemas.microsoft.com/office/powerpoint/2010/main" val="180016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DEE53-3A4C-4B68-83DB-6012A4D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2/3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F7C4E-6BE6-43AC-9ED4-76E7D263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В 2024 году 28% домохозяйств состоят из 5+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C260F-83A0-4132-BB0A-CCE7B46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D008, 2024. Доли от 12 000 домохозяйств в синтетической выборке; без весов.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5712-CCF4-4813-AF6C-3A1BE09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Размер домохозяйства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429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65c0e5375b4f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B3F84-5273-408E-A788-A90BF15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3,49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47ED-848B-4A17-B9F5-7E801FD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человека в среднем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A5A8D-1A60-46FD-B1AB-B82989B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55,8%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D69DD-891A-493F-8BDC-B96C47E9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90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домохозяйств с детьми</a:t>
            </a:r>
          </a:p>
          <a:p xmlns:a="http://schemas.openxmlformats.org/drawingml/2006/main">
            <a:pPr>
              <a:defRPr sz="157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до 18 лет на конец 2024 г.</a:t>
            </a:r>
          </a:p>
        </p:txBody>
      </p:sp>
    </p:spTree>
    <p:extLst>
      <p:ext uri="{BB962C8B-B14F-4D97-AF65-F5344CB8AC3E}">
        <p14:creationId xmlns:p14="http://schemas.microsoft.com/office/powerpoint/2010/main" val="649014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7667D-DC7F-4E9F-8A09-56D88E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4216A-9D7B-43F1-B20D-85CF3A8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Площадь на человека по размеру домохозяйства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7E590-5210-4574-9CAD-9F93E1B3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D006 + D008, 2024. Синтетическая выборка, n = 11 658. Исключены 46 анкет: жилая площадь больше общей.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1409-A4BF-4427-BEC8-6B91A1B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Медиана общей площади на человека, м²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536082dd7245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61C5-1334-4316-AC6D-9B9B4F2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Медиана площади всего жилья: 73 м² для 5+ человек и 57 м² для одного</a:t>
            </a:r>
          </a:p>
        </p:txBody>
      </p:sp>
    </p:spTree>
    <p:extLst>
      <p:ext uri="{BB962C8B-B14F-4D97-AF65-F5344CB8AC3E}">
        <p14:creationId xmlns:p14="http://schemas.microsoft.com/office/powerpoint/2010/main" val="22822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2026-09-29T17:32:33.6280000Z</dcterms:created>
  <dcterms:modified xsi:type="dcterms:W3CDTF">2026-09-29T17:32:33.6280000Z</dcterms:modified>
</coreProperties>
</file>